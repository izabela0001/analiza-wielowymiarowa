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Heebo Bold" panose="020B0604020202020204" charset="-79"/>
      <p:regular r:id="rId17"/>
    </p:embeddedFont>
    <p:embeddedFont>
      <p:font typeface="Helios Extended Bold" panose="020B0604020202020204" charset="0"/>
      <p:regular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ato Bold" panose="020F0502020204030203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7896"/>
            <a:ext cx="19066257" cy="11439754"/>
          </a:xfrm>
          <a:custGeom>
            <a:avLst/>
            <a:gdLst/>
            <a:ahLst/>
            <a:cxnLst/>
            <a:rect l="l" t="t" r="r" b="b"/>
            <a:pathLst>
              <a:path w="19066257" h="11439754">
                <a:moveTo>
                  <a:pt x="0" y="0"/>
                </a:moveTo>
                <a:lnTo>
                  <a:pt x="19066257" y="0"/>
                </a:lnTo>
                <a:lnTo>
                  <a:pt x="19066257" y="11439755"/>
                </a:lnTo>
                <a:lnTo>
                  <a:pt x="0" y="11439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2717177" y="3237564"/>
            <a:ext cx="32733100" cy="4205110"/>
            <a:chOff x="0" y="0"/>
            <a:chExt cx="1742532" cy="2238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2532" cy="223857"/>
            </a:xfrm>
            <a:custGeom>
              <a:avLst/>
              <a:gdLst/>
              <a:ahLst/>
              <a:cxnLst/>
              <a:rect l="l" t="t" r="r" b="b"/>
              <a:pathLst>
                <a:path w="1742532" h="223857">
                  <a:moveTo>
                    <a:pt x="1539332" y="0"/>
                  </a:moveTo>
                  <a:cubicBezTo>
                    <a:pt x="1651556" y="0"/>
                    <a:pt x="1742532" y="50112"/>
                    <a:pt x="1742532" y="111929"/>
                  </a:cubicBezTo>
                  <a:cubicBezTo>
                    <a:pt x="1742532" y="173745"/>
                    <a:pt x="1651556" y="223857"/>
                    <a:pt x="1539332" y="223857"/>
                  </a:cubicBezTo>
                  <a:lnTo>
                    <a:pt x="203200" y="223857"/>
                  </a:lnTo>
                  <a:cubicBezTo>
                    <a:pt x="90976" y="223857"/>
                    <a:pt x="0" y="173745"/>
                    <a:pt x="0" y="111929"/>
                  </a:cubicBezTo>
                  <a:cubicBezTo>
                    <a:pt x="0" y="5011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6274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42532" cy="271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06466" y="3466280"/>
            <a:ext cx="11823396" cy="220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10"/>
              </a:lnSpc>
            </a:pPr>
            <a:r>
              <a:rPr lang="en-US" sz="4078" b="1" spc="203">
                <a:solidFill>
                  <a:srgbClr val="F87F32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JAKOŚĆ PRACY I PREKARYZACJA RYNKÓW PRACY W EUROPIE (2015–2022)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32289" y="6733738"/>
            <a:ext cx="12371749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60"/>
              </a:lnSpc>
            </a:pPr>
            <a:r>
              <a:rPr lang="en-US" sz="1900" b="1" spc="190" dirty="0">
                <a:solidFill>
                  <a:srgbClr val="003468">
                    <a:alpha val="87843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IZABELA RESZKA, PIOTR WIŚNIEWSKI, KLAUDIA WOŹNIAK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" y="5923156"/>
            <a:ext cx="16715037" cy="824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Wielowymiarowa</a:t>
            </a:r>
            <a:r>
              <a:rPr lang="en-US" sz="2399" spc="23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Analiza </a:t>
            </a: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Porównawcza</a:t>
            </a:r>
            <a:r>
              <a:rPr lang="en-US" sz="2399" spc="23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z </a:t>
            </a: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Wykorzystaniem</a:t>
            </a:r>
            <a:r>
              <a:rPr lang="en-US" sz="2399" spc="23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Metody </a:t>
            </a: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Hellwiga</a:t>
            </a:r>
            <a:r>
              <a:rPr lang="en-US" sz="2399" spc="23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PCA </a:t>
            </a: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399" spc="23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Analizy</a:t>
            </a:r>
            <a:r>
              <a:rPr lang="en-US" sz="2399" spc="23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spc="23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Skupień</a:t>
            </a:r>
            <a:endParaRPr lang="en-US" sz="2399" spc="23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 spc="23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422368" y="2523179"/>
            <a:ext cx="20636319" cy="2175632"/>
            <a:chOff x="0" y="0"/>
            <a:chExt cx="762225" cy="80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62225" cy="80359"/>
            </a:xfrm>
            <a:custGeom>
              <a:avLst/>
              <a:gdLst/>
              <a:ahLst/>
              <a:cxnLst/>
              <a:rect l="l" t="t" r="r" b="b"/>
              <a:pathLst>
                <a:path w="762225" h="80359">
                  <a:moveTo>
                    <a:pt x="0" y="0"/>
                  </a:moveTo>
                  <a:lnTo>
                    <a:pt x="762225" y="0"/>
                  </a:lnTo>
                  <a:lnTo>
                    <a:pt x="762225" y="80359"/>
                  </a:lnTo>
                  <a:lnTo>
                    <a:pt x="0" y="80359"/>
                  </a:lnTo>
                  <a:close/>
                </a:path>
              </a:pathLst>
            </a:custGeom>
            <a:solidFill>
              <a:srgbClr val="F2F1F1">
                <a:alpha val="4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762225" cy="127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805586" y="5635746"/>
            <a:ext cx="21218310" cy="997624"/>
            <a:chOff x="0" y="0"/>
            <a:chExt cx="783721" cy="36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721" cy="36848"/>
            </a:xfrm>
            <a:custGeom>
              <a:avLst/>
              <a:gdLst/>
              <a:ahLst/>
              <a:cxnLst/>
              <a:rect l="l" t="t" r="r" b="b"/>
              <a:pathLst>
                <a:path w="783721" h="36848">
                  <a:moveTo>
                    <a:pt x="0" y="0"/>
                  </a:moveTo>
                  <a:lnTo>
                    <a:pt x="783721" y="0"/>
                  </a:lnTo>
                  <a:lnTo>
                    <a:pt x="783721" y="36848"/>
                  </a:lnTo>
                  <a:lnTo>
                    <a:pt x="0" y="36848"/>
                  </a:lnTo>
                  <a:close/>
                </a:path>
              </a:pathLst>
            </a:custGeom>
            <a:solidFill>
              <a:srgbClr val="F2F1F1">
                <a:alpha val="4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83721" cy="8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609600" y="5453531"/>
            <a:ext cx="1634088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Czy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wysoka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wydajność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gospodarki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przekłada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się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na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wysoką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jakość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pracy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oraz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inkluzję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społeczną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?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2100" b="1" spc="210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813" y="2601441"/>
            <a:ext cx="15193505" cy="193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10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Europejskie rynki pracy przechodzą istotną transformację strukturalną</a:t>
            </a:r>
          </a:p>
          <a:p>
            <a:pPr marL="431801" lvl="1" indent="-215900" algn="l">
              <a:lnSpc>
                <a:spcPts val="310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Globalizacja, digitalizacja i elastyczne formy zatrudnienia zmieniają charakter pracy</a:t>
            </a:r>
          </a:p>
          <a:p>
            <a:pPr marL="431801" lvl="1" indent="-215900" algn="l">
              <a:lnSpc>
                <a:spcPts val="310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Rośnie znaczenie niestabilności zatrudnienia oraz ryzyko wykluczenia społecznego</a:t>
            </a:r>
          </a:p>
          <a:p>
            <a:pPr marL="431801" lvl="1" indent="-215900" algn="l">
              <a:lnSpc>
                <a:spcPts val="310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Tradycyjne miary rynku pracy nie oddają w pełni jakości zatrudnienia</a:t>
            </a:r>
          </a:p>
          <a:p>
            <a:pPr marL="431801" lvl="1" indent="-215900" algn="l">
              <a:lnSpc>
                <a:spcPts val="310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Konieczna jest wielowymiarowa ocena łącząca efektywność i inkluzję społeczną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5987" y="1920564"/>
            <a:ext cx="5203958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Uzasadnienie</a:t>
            </a: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metod</a:t>
            </a: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 MSA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422368" y="5119919"/>
            <a:ext cx="5634766" cy="466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Problem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badawczy</a:t>
            </a:r>
            <a:endParaRPr lang="en-US" sz="2899" b="1" spc="289" dirty="0">
              <a:solidFill>
                <a:srgbClr val="0C416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-265809" y="858816"/>
            <a:ext cx="10956413" cy="738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Kontekst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badania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hipotezy</a:t>
            </a:r>
            <a:endParaRPr lang="en-US" sz="4395" b="1" dirty="0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-265809" y="6666109"/>
            <a:ext cx="3684836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27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Hipotezy</a:t>
            </a:r>
            <a:r>
              <a:rPr lang="en-US" sz="2799" b="1" spc="27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799" b="1" spc="27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badawcze</a:t>
            </a:r>
            <a:endParaRPr lang="en-US" sz="2799" b="1" spc="279" dirty="0">
              <a:solidFill>
                <a:srgbClr val="0C416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-1468722" y="7183715"/>
            <a:ext cx="22729026" cy="2733964"/>
            <a:chOff x="0" y="0"/>
            <a:chExt cx="5986246" cy="7200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86245" cy="720056"/>
            </a:xfrm>
            <a:custGeom>
              <a:avLst/>
              <a:gdLst/>
              <a:ahLst/>
              <a:cxnLst/>
              <a:rect l="l" t="t" r="r" b="b"/>
              <a:pathLst>
                <a:path w="5986245" h="720056">
                  <a:moveTo>
                    <a:pt x="0" y="0"/>
                  </a:moveTo>
                  <a:lnTo>
                    <a:pt x="5986245" y="0"/>
                  </a:lnTo>
                  <a:lnTo>
                    <a:pt x="5986245" y="720056"/>
                  </a:lnTo>
                  <a:lnTo>
                    <a:pt x="0" y="720056"/>
                  </a:lnTo>
                  <a:close/>
                </a:path>
              </a:pathLst>
            </a:custGeom>
            <a:solidFill>
              <a:srgbClr val="F2F1F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986246" cy="767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5160" y="7203970"/>
            <a:ext cx="17957681" cy="238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ctr">
              <a:lnSpc>
                <a:spcPts val="3204"/>
              </a:lnSpc>
              <a:buAutoNum type="arabicPeriod"/>
            </a:pP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H1 (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Instytucje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–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wykluczenie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):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Istnieje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istotna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statystycznie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dodatnia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korelacja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między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Labor Freedom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stopą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NEET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, co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sugeruje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że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większa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elastyczność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rynku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nie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ogranicza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wykluczenia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młodzieży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może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współwystępować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z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jego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wyższym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poziomem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(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prekaryzacja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88622" lvl="1" indent="-194311" algn="ctr">
              <a:lnSpc>
                <a:spcPts val="3204"/>
              </a:lnSpc>
              <a:buAutoNum type="arabicPeriod"/>
            </a:pP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H2 (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Wrażliwość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metodologiczna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Zastosowanie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obiektywnych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systemów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wag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(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Entropia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, CRITIC)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prowadzi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do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istotnych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zmian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pozycji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krajów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                   w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rankingach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ujawniając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„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ukryte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ryzyka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”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gospodarek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Południa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Europy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względem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wag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równych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88622" lvl="1" indent="-194311" algn="ctr">
              <a:lnSpc>
                <a:spcPts val="3204"/>
              </a:lnSpc>
              <a:buAutoNum type="arabicPeriod"/>
            </a:pP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H3 (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Struktura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geograficzna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):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Analiza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skupień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(Ward, k-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średnich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identyfikuje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trwały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Klaster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Prekariatu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(Europa 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Południowa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i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800" b="1" spc="180" dirty="0" err="1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część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 CEE),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charakteryzujący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się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strukturalnie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wysokim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poziomem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NEET (&gt;15%)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w </a:t>
            </a:r>
            <a:r>
              <a:rPr lang="en-US" sz="1800" spc="180" dirty="0" err="1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latach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spc="180" dirty="0">
                <a:solidFill>
                  <a:srgbClr val="000001"/>
                </a:solidFill>
                <a:latin typeface="Lato Bold"/>
                <a:ea typeface="Lato Bold"/>
                <a:cs typeface="Lato Bold"/>
                <a:sym typeface="Lato Bold"/>
              </a:rPr>
              <a:t>2015–2022</a:t>
            </a:r>
            <a:r>
              <a:rPr lang="en-US" sz="1800" spc="180" dirty="0">
                <a:solidFill>
                  <a:srgbClr val="00000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58185" y="2397956"/>
            <a:ext cx="16699744" cy="260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52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Konstrukcja syntetycznego wskaźnika jakości pracy łączącego wymiary czysto ekonomiczne </a:t>
            </a:r>
            <a:r>
              <a:rPr lang="en-US" sz="2000" b="1" spc="2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(stymulanty: PKB, wydajność)</a:t>
            </a: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z wymiarami społecznymi </a:t>
            </a:r>
            <a:r>
              <a:rPr lang="en-US" sz="2000" b="1" spc="2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(destymulanty: NEET, stopa bezrobocia)</a:t>
            </a: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31801" lvl="1" indent="-215900" algn="l">
              <a:lnSpc>
                <a:spcPts val="352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Porządkowanie liniowe krajów europejskich za pomocą </a:t>
            </a:r>
            <a:r>
              <a:rPr lang="en-US" sz="2000" b="1" spc="2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metody Hellwiga</a:t>
            </a: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z wieloma systemami ważenia zmiennych.</a:t>
            </a:r>
          </a:p>
          <a:p>
            <a:pPr marL="431801" lvl="1" indent="-215900" algn="l">
              <a:lnSpc>
                <a:spcPts val="352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Eksploracyjna analiza podobieństwa </a:t>
            </a:r>
            <a:r>
              <a:rPr lang="en-US" sz="2000" b="1" spc="2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(PCA, klasteryzacja)</a:t>
            </a: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 celu identyfikacji typów rynków pracy.</a:t>
            </a:r>
          </a:p>
          <a:p>
            <a:pPr marL="431801" lvl="1" indent="-215900" algn="l">
              <a:lnSpc>
                <a:spcPts val="352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Weryfikacja hipotez dotyczących relacji między instytucjami </a:t>
            </a:r>
            <a:r>
              <a:rPr lang="en-US" sz="2000" b="1" spc="2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(regulacją pracy)</a:t>
            </a: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wydajnością a jakością pracy.</a:t>
            </a:r>
          </a:p>
          <a:p>
            <a:pPr marL="431801" lvl="1" indent="-215900" algn="l">
              <a:lnSpc>
                <a:spcPts val="3520"/>
              </a:lnSpc>
              <a:buAutoNum type="arabicPeriod"/>
            </a:pPr>
            <a:r>
              <a:rPr lang="en-US" sz="2000" spc="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Ocena stabilności i wrażliwości wyników na zmianę metodologii.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600" y="1741287"/>
            <a:ext cx="3666474" cy="466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Cel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projektu</a:t>
            </a:r>
            <a:endParaRPr lang="en-US" sz="2899" b="1" spc="289" dirty="0">
              <a:solidFill>
                <a:srgbClr val="0C416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71996" y="675077"/>
            <a:ext cx="11273192" cy="738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Cel,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zakres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dane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badawcze</a:t>
            </a:r>
            <a:endParaRPr lang="en-US" sz="4395" b="1" dirty="0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600" y="5328664"/>
            <a:ext cx="4428474" cy="466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Dane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badawcze</a:t>
            </a:r>
            <a:endParaRPr lang="en-US" sz="2899" b="1" spc="289" dirty="0">
              <a:solidFill>
                <a:srgbClr val="0C416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-1282296" y="5934906"/>
            <a:ext cx="22729026" cy="1978025"/>
            <a:chOff x="0" y="0"/>
            <a:chExt cx="5986246" cy="5209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86245" cy="520961"/>
            </a:xfrm>
            <a:custGeom>
              <a:avLst/>
              <a:gdLst/>
              <a:ahLst/>
              <a:cxnLst/>
              <a:rect l="l" t="t" r="r" b="b"/>
              <a:pathLst>
                <a:path w="5986245" h="520961">
                  <a:moveTo>
                    <a:pt x="0" y="0"/>
                  </a:moveTo>
                  <a:lnTo>
                    <a:pt x="5986245" y="0"/>
                  </a:lnTo>
                  <a:lnTo>
                    <a:pt x="5986245" y="520961"/>
                  </a:lnTo>
                  <a:lnTo>
                    <a:pt x="0" y="520961"/>
                  </a:lnTo>
                  <a:close/>
                </a:path>
              </a:pathLst>
            </a:custGeom>
            <a:solidFill>
              <a:srgbClr val="F2F1F1">
                <a:alpha val="5882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986246" cy="568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5800" y="6080829"/>
            <a:ext cx="10916245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 b="1" spc="20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ILOSTAT (MOP)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–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bezrobocie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1" spc="20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NEET, PKB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pracownika</a:t>
            </a:r>
            <a:r>
              <a:rPr lang="en-US" sz="2000" b="1" spc="20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(PPP)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godziny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endParaRPr lang="en-US" sz="2000" spc="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Heritage Foundation –</a:t>
            </a:r>
            <a:r>
              <a:rPr lang="en-US" sz="2000" b="1" spc="20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Labor Freedom, Economic Freedom</a:t>
            </a: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członkowskie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UE-27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oraz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kandydujące</a:t>
            </a:r>
            <a:endParaRPr lang="en-US" sz="2000" spc="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przekrój</a:t>
            </a:r>
            <a:r>
              <a:rPr lang="en-US" sz="2000" spc="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000" spc="2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ogółem</a:t>
            </a:r>
            <a:r>
              <a:rPr lang="en-US" sz="2000" b="1" spc="20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(Total)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73024" y="8284406"/>
            <a:ext cx="6933887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Rozmiar próby badawczej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410226" y="8629847"/>
            <a:ext cx="1634088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endParaRPr dirty="0"/>
          </a:p>
          <a:p>
            <a:pPr algn="ctr">
              <a:lnSpc>
                <a:spcPts val="2940"/>
              </a:lnSpc>
            </a:pP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Rok 2015: 42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krajów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pełne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dane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); Rok 2022: 42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krajów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pełne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100" b="1" spc="210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dane</a:t>
            </a:r>
            <a:r>
              <a:rPr lang="en-US" sz="2100" b="1" spc="210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  <a:p>
            <a:pPr algn="ctr">
              <a:lnSpc>
                <a:spcPts val="2940"/>
              </a:lnSpc>
            </a:pPr>
            <a:endParaRPr lang="en-US" sz="2100" b="1" spc="210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3226" y="704210"/>
            <a:ext cx="8560774" cy="738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Zmienne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diagnostyczne</a:t>
            </a:r>
            <a:endParaRPr lang="en-US" sz="4395" b="1" dirty="0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5410350" y="2920073"/>
            <a:ext cx="12877650" cy="5598192"/>
          </a:xfrm>
          <a:custGeom>
            <a:avLst/>
            <a:gdLst/>
            <a:ahLst/>
            <a:cxnLst/>
            <a:rect l="l" t="t" r="r" b="b"/>
            <a:pathLst>
              <a:path w="12877650" h="5598192">
                <a:moveTo>
                  <a:pt x="0" y="0"/>
                </a:moveTo>
                <a:lnTo>
                  <a:pt x="12877650" y="0"/>
                </a:lnTo>
                <a:lnTo>
                  <a:pt x="12877650" y="5598193"/>
                </a:lnTo>
                <a:lnTo>
                  <a:pt x="0" y="559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0" r="-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1000" y="2062260"/>
            <a:ext cx="5348419" cy="8218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8"/>
              </a:lnSpc>
            </a:pP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Zestaw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zmiennych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umożliwia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wielowymiarową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ocenę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jakości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rynku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łącząc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wydajność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gospodarczą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otoczenie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instytucjonalne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oraz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skalę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wykluczenia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społecznego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738"/>
              </a:lnSpc>
            </a:pPr>
            <a:endParaRPr lang="en-US" sz="1956" spc="195" dirty="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738"/>
              </a:lnSpc>
            </a:pP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Zmiennymi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stymulującymi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są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: </a:t>
            </a:r>
          </a:p>
          <a:p>
            <a:pPr marL="422310" lvl="1" indent="-211155" algn="l">
              <a:lnSpc>
                <a:spcPts val="2738"/>
              </a:lnSpc>
              <a:buFont typeface="Arial"/>
              <a:buChar char="•"/>
            </a:pP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X3 -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wydajność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(PKB), </a:t>
            </a:r>
          </a:p>
          <a:p>
            <a:pPr marL="422310" lvl="1" indent="-211155" algn="l">
              <a:lnSpc>
                <a:spcPts val="2738"/>
              </a:lnSpc>
              <a:buFont typeface="Arial"/>
              <a:buChar char="•"/>
            </a:pP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X6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wolność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gospodarcza</a:t>
            </a:r>
            <a:endParaRPr lang="en-US" sz="1956" spc="195" dirty="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  <a:p>
            <a:pPr marL="422310" lvl="1" indent="-211155" algn="l">
              <a:lnSpc>
                <a:spcPts val="2738"/>
              </a:lnSpc>
              <a:buFont typeface="Arial"/>
              <a:buChar char="•"/>
            </a:pP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X5 -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wolność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Labor Freedom)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weryfikowana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empirycznie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w H1)</a:t>
            </a:r>
          </a:p>
          <a:p>
            <a:pPr algn="l">
              <a:lnSpc>
                <a:spcPts val="2738"/>
              </a:lnSpc>
            </a:pPr>
            <a:endParaRPr lang="en-US" sz="1956" spc="195" dirty="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738"/>
              </a:lnSpc>
            </a:pP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Zmiennymi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dysymulującymi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są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: </a:t>
            </a:r>
          </a:p>
          <a:p>
            <a:pPr marL="422310" lvl="1" indent="-211155" algn="l">
              <a:lnSpc>
                <a:spcPts val="2738"/>
              </a:lnSpc>
              <a:buFont typeface="Arial"/>
              <a:buChar char="•"/>
            </a:pP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X1 -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stopa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bezrobocia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</a:p>
          <a:p>
            <a:pPr marL="422310" lvl="1" indent="-211155" algn="l">
              <a:lnSpc>
                <a:spcPts val="2738"/>
              </a:lnSpc>
              <a:buFont typeface="Arial"/>
              <a:buChar char="•"/>
            </a:pP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X2 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wskaźnik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NEET </a:t>
            </a:r>
          </a:p>
          <a:p>
            <a:pPr marL="422310" lvl="1" indent="-211155" algn="l">
              <a:lnSpc>
                <a:spcPts val="2738"/>
              </a:lnSpc>
              <a:spcBef>
                <a:spcPct val="0"/>
              </a:spcBef>
              <a:buFont typeface="Arial"/>
              <a:buChar char="•"/>
            </a:pP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X4 -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liczba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godzin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odzwierciedlające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intensywność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ryzyko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prekaryzacji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738"/>
              </a:lnSpc>
              <a:spcBef>
                <a:spcPct val="0"/>
              </a:spcBef>
            </a:pPr>
            <a:endParaRPr lang="en-US" sz="1956" spc="195" dirty="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738"/>
              </a:lnSpc>
              <a:spcBef>
                <a:spcPct val="0"/>
              </a:spcBef>
            </a:pP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Analiza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oparta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jest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kompletnych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macierzach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danych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, co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umożliwia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poprawne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zastosowanie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spc="195" dirty="0" err="1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metod</a:t>
            </a:r>
            <a:r>
              <a:rPr lang="en-US" sz="1956" spc="195" dirty="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PCA              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i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rankingu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956" b="1" spc="195" dirty="0" err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Hellwiga</a:t>
            </a:r>
            <a:r>
              <a:rPr lang="en-US" sz="1956" b="1" spc="195" dirty="0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.</a:t>
            </a:r>
          </a:p>
          <a:p>
            <a:pPr algn="l">
              <a:lnSpc>
                <a:spcPts val="2738"/>
              </a:lnSpc>
              <a:spcBef>
                <a:spcPct val="0"/>
              </a:spcBef>
            </a:pPr>
            <a:endParaRPr lang="en-US" sz="1956" b="1" spc="195" dirty="0">
              <a:solidFill>
                <a:srgbClr val="011E3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911491" y="2198105"/>
            <a:ext cx="9902087" cy="6111003"/>
          </a:xfrm>
          <a:custGeom>
            <a:avLst/>
            <a:gdLst/>
            <a:ahLst/>
            <a:cxnLst/>
            <a:rect l="l" t="t" r="r" b="b"/>
            <a:pathLst>
              <a:path w="9902087" h="6111003">
                <a:moveTo>
                  <a:pt x="0" y="0"/>
                </a:moveTo>
                <a:lnTo>
                  <a:pt x="9902087" y="0"/>
                </a:lnTo>
                <a:lnTo>
                  <a:pt x="9902087" y="6111003"/>
                </a:lnTo>
                <a:lnTo>
                  <a:pt x="0" y="611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-157295" y="747733"/>
            <a:ext cx="12909723" cy="7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Analiza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głównych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składowych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PCA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8910" y="1950695"/>
            <a:ext cx="7182662" cy="774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Cel PCA: 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Redukcja</a:t>
            </a: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 6 zmiennych </a:t>
            </a: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rynku pracy do mniejszej liczby niezależnych wymiarów, które najlepiej opisują zróżnicowanie krajów europejskich.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PCA pozwala sprawdzić, czy złożona struktura rynku pracy może zostać opisana przez kilka kluczowych osi interpretacyjnych.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endParaRPr lang="en-US" sz="201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Wybór liczby składowych </a:t>
            </a:r>
          </a:p>
          <a:p>
            <a:pPr marL="434022" lvl="1" indent="-217011" algn="l">
              <a:lnSpc>
                <a:spcPts val="2814"/>
              </a:lnSpc>
              <a:spcBef>
                <a:spcPct val="0"/>
              </a:spcBef>
              <a:buFont typeface="Arial"/>
              <a:buChar char="•"/>
            </a:pP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PC1 wyjaśnia 45,3% wariancji</a:t>
            </a: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– dominujący wymiar różnicujący kraje</a:t>
            </a:r>
          </a:p>
          <a:p>
            <a:pPr marL="434022" lvl="1" indent="-217011" algn="l">
              <a:lnSpc>
                <a:spcPts val="2814"/>
              </a:lnSpc>
              <a:spcBef>
                <a:spcPct val="0"/>
              </a:spcBef>
              <a:buFont typeface="Arial"/>
              <a:buChar char="•"/>
            </a:pP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PC2 wyjaśnia 20,4% wariancji</a:t>
            </a:r>
          </a:p>
          <a:p>
            <a:pPr marL="434022" lvl="1" indent="-217011" algn="l">
              <a:lnSpc>
                <a:spcPts val="2814"/>
              </a:lnSpc>
              <a:spcBef>
                <a:spcPct val="0"/>
              </a:spcBef>
              <a:buFont typeface="Arial"/>
              <a:buChar char="•"/>
            </a:pP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PC1 + PC2 = 65,7% całkowitej zmienności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Po drugim komponencie widoczne jest wyraźne „załamanie” krzywej (kryterium osypiska).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Kolejne składowe wnoszą niewielką, marginalną informację.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endParaRPr lang="en-US" sz="201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Decyzja analityczna: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 Do dalszej analizy przyjęto 2 główne składowe </a:t>
            </a:r>
            <a:r>
              <a:rPr lang="en-US" sz="2010" b="1">
                <a:solidFill>
                  <a:srgbClr val="011E31"/>
                </a:solidFill>
                <a:latin typeface="Lato Bold"/>
                <a:ea typeface="Lato Bold"/>
                <a:cs typeface="Lato Bold"/>
                <a:sym typeface="Lato Bold"/>
              </a:rPr>
              <a:t>(PC1 i PC2)</a:t>
            </a:r>
            <a:r>
              <a:rPr lang="en-US" sz="2010">
                <a:solidFill>
                  <a:srgbClr val="011E31"/>
                </a:solidFill>
                <a:latin typeface="Lato"/>
                <a:ea typeface="Lato"/>
                <a:cs typeface="Lato"/>
                <a:sym typeface="Lato"/>
              </a:rPr>
              <a:t>, co pozwala zachować większość informacji przy jednoczesnej redukcji wymiarowości.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endParaRPr lang="en-US" sz="2010">
              <a:solidFill>
                <a:srgbClr val="011E3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9325" y="634058"/>
            <a:ext cx="9405519" cy="738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PCA: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struktura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rynku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pracy</a:t>
            </a:r>
            <a:endParaRPr lang="en-US" sz="4395" b="1" dirty="0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283005" y="2167683"/>
            <a:ext cx="12004995" cy="7090617"/>
          </a:xfrm>
          <a:custGeom>
            <a:avLst/>
            <a:gdLst/>
            <a:ahLst/>
            <a:cxnLst/>
            <a:rect l="l" t="t" r="r" b="b"/>
            <a:pathLst>
              <a:path w="12004995" h="7090617">
                <a:moveTo>
                  <a:pt x="0" y="0"/>
                </a:moveTo>
                <a:lnTo>
                  <a:pt x="12004995" y="0"/>
                </a:lnTo>
                <a:lnTo>
                  <a:pt x="12004995" y="7090617"/>
                </a:lnTo>
                <a:lnTo>
                  <a:pt x="0" y="7090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37975" y="1821479"/>
            <a:ext cx="6351304" cy="796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4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Aby zrozumieć znaczenie ekonomiczne wyodrębnionych wymiarów, przeanalizowano wartości ładunków czynnikowych </a:t>
            </a:r>
            <a:r>
              <a:rPr lang="en-US" sz="1604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(korelacji zmiennych z PC1 i PC2)</a:t>
            </a:r>
            <a:r>
              <a:rPr lang="en-US" sz="1604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250"/>
              </a:lnSpc>
            </a:pPr>
            <a:endParaRPr lang="en-US" sz="1604">
              <a:solidFill>
                <a:srgbClr val="1B2528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250"/>
              </a:lnSpc>
            </a:pP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PC1: Oś Rozwoju i Inkluzji (Wyjaśnia główną zmienność)</a:t>
            </a:r>
          </a:p>
          <a:p>
            <a:pPr algn="l">
              <a:lnSpc>
                <a:spcPts val="2250"/>
              </a:lnSpc>
            </a:pPr>
            <a:endParaRPr lang="en-US" sz="1607" b="1">
              <a:solidFill>
                <a:srgbClr val="1B2528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Wymiar ten silnie kontrastuje zmienne negatywne</a:t>
            </a: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 (NEET -0.49, Bezrobocie -0.47)</a:t>
            </a: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 ze zmiennymi pozytywnymi </a:t>
            </a: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(Wolność Gospodarcza 0.52, Wydajność 0.43).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endParaRPr lang="en-US" sz="1607" b="1">
              <a:solidFill>
                <a:srgbClr val="1B2528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Interpretacja:  </a:t>
            </a: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Oś ta dzieli Europę na kraje wysokorozwinięte, które skutecznie walczą z wykluczeniem (prawa strona wykresu), oraz kraje borykające się ze strukturalnymi problemami rynku pracy (lewa strona).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endParaRPr lang="en-US" sz="1607">
              <a:solidFill>
                <a:srgbClr val="1B2528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PC2: Oś Intensywności Pracy (Model Ekstensywny  vs Elastyczny)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endParaRPr lang="en-US" sz="1607" b="1">
              <a:solidFill>
                <a:srgbClr val="1B2528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Wymiar ten jest zdominowany przez zmienną</a:t>
            </a: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 Godziny Pracy</a:t>
            </a: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(0.74)  </a:t>
            </a: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oraz silnie ujemnie skorelowany z </a:t>
            </a: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Wolnością Pracy (-0.57).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endParaRPr lang="en-US" sz="1607" b="1">
              <a:solidFill>
                <a:srgbClr val="1B2528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Interpretacja:</a:t>
            </a: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 Oś ta różnicuje modele zatrudnienia.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endParaRPr lang="en-US" sz="1607">
              <a:solidFill>
                <a:srgbClr val="1B2528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Wartości wysokie (Góra wykresu): 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Model ekstensywny – długi czas pracy przy niższej elastyczności kodeksowej.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endParaRPr lang="en-US" sz="1607">
              <a:solidFill>
                <a:srgbClr val="1B2528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 b="1">
                <a:solidFill>
                  <a:srgbClr val="1B2528"/>
                </a:solidFill>
                <a:latin typeface="Lato Bold"/>
                <a:ea typeface="Lato Bold"/>
                <a:cs typeface="Lato Bold"/>
                <a:sym typeface="Lato Bold"/>
              </a:rPr>
              <a:t> Wartości niskie (Dół wykresu):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607">
                <a:solidFill>
                  <a:srgbClr val="1B2528"/>
                </a:solidFill>
                <a:latin typeface="Lato"/>
                <a:ea typeface="Lato"/>
                <a:cs typeface="Lato"/>
                <a:sym typeface="Lato"/>
              </a:rPr>
              <a:t> Model elastyczny – krótszy czas pracy, ale wyższa swoboda regulacyjna (łatwość zatrudniania i zwalniania).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209957" y="2295030"/>
            <a:ext cx="9754110" cy="6191869"/>
          </a:xfrm>
          <a:custGeom>
            <a:avLst/>
            <a:gdLst/>
            <a:ahLst/>
            <a:cxnLst/>
            <a:rect l="l" t="t" r="r" b="b"/>
            <a:pathLst>
              <a:path w="9754110" h="6191869">
                <a:moveTo>
                  <a:pt x="0" y="0"/>
                </a:moveTo>
                <a:lnTo>
                  <a:pt x="9754110" y="0"/>
                </a:lnTo>
                <a:lnTo>
                  <a:pt x="9754110" y="6191869"/>
                </a:lnTo>
                <a:lnTo>
                  <a:pt x="0" y="6191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81" r="-41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83211" y="474294"/>
            <a:ext cx="13508990" cy="1564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54"/>
              </a:lnSpc>
            </a:pP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Porz</a:t>
            </a:r>
            <a:r>
              <a:rPr lang="pl-PL" sz="5400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ą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dkowanie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liniowe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–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metoda</a:t>
            </a:r>
            <a:r>
              <a:rPr lang="en-US" sz="43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3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Hellwiga</a:t>
            </a:r>
            <a:endParaRPr lang="en-US" sz="4395" b="1" dirty="0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83210" y="2382930"/>
            <a:ext cx="6027636" cy="759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  <a:spcBef>
                <a:spcPct val="0"/>
              </a:spcBef>
            </a:pP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analizie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zastosowano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klasyczną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metodę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Hellwiga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z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trzema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wariantami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wag, aby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ograniczyć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arbitralność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oceny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jakości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rynku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900"/>
              </a:lnSpc>
              <a:spcBef>
                <a:spcPct val="0"/>
              </a:spcBef>
            </a:pPr>
            <a:endParaRPr lang="en-US" sz="2072" spc="207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00"/>
              </a:lnSpc>
              <a:spcBef>
                <a:spcPct val="0"/>
              </a:spcBef>
            </a:pP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Wagi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równe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traktują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wszystkie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jednakowo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stanowią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punkt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odniesienia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900"/>
              </a:lnSpc>
              <a:spcBef>
                <a:spcPct val="0"/>
              </a:spcBef>
            </a:pPr>
            <a:endParaRPr lang="en-US" sz="2072" spc="207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00"/>
              </a:lnSpc>
              <a:spcBef>
                <a:spcPct val="0"/>
              </a:spcBef>
            </a:pPr>
            <a:r>
              <a:rPr lang="en-US" sz="2072" b="1" spc="207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Metoda</a:t>
            </a:r>
            <a:r>
              <a:rPr lang="en-US" sz="2072" b="1" spc="207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072" b="1" spc="207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entropii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premiuje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największej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zmienności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– w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tym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ujęciu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kluczowym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czynnikiem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różnicującym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okazują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się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godziny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co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sprawia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że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ranking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silnie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odzwierciedla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różnice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 work–life balance.</a:t>
            </a:r>
          </a:p>
          <a:p>
            <a:pPr algn="l">
              <a:lnSpc>
                <a:spcPts val="2900"/>
              </a:lnSpc>
              <a:spcBef>
                <a:spcPct val="0"/>
              </a:spcBef>
            </a:pPr>
            <a:endParaRPr lang="en-US" sz="2072" spc="207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00"/>
              </a:lnSpc>
              <a:spcBef>
                <a:spcPct val="0"/>
              </a:spcBef>
            </a:pPr>
            <a:r>
              <a:rPr lang="en-US" sz="2072" b="1" spc="207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Metoda</a:t>
            </a:r>
            <a:r>
              <a:rPr lang="en-US" sz="2072" b="1" spc="207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CRITIC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uwzględnia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jednocześnie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zmienność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współliniowość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zmiennych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ograniczając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nadreprezentację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silnie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skorelowanych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cech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zwiększając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znaczenie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zmiennych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niosących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unikalną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informację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72" spc="20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takich</a:t>
            </a:r>
            <a:r>
              <a:rPr lang="en-US" sz="2072" spc="20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jak Labor Freedom.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2307214"/>
            <a:ext cx="9930122" cy="6951086"/>
          </a:xfrm>
          <a:custGeom>
            <a:avLst/>
            <a:gdLst/>
            <a:ahLst/>
            <a:cxnLst/>
            <a:rect l="l" t="t" r="r" b="b"/>
            <a:pathLst>
              <a:path w="9930122" h="6951086">
                <a:moveTo>
                  <a:pt x="0" y="0"/>
                </a:moveTo>
                <a:lnTo>
                  <a:pt x="9930122" y="0"/>
                </a:lnTo>
                <a:lnTo>
                  <a:pt x="9930122" y="6951086"/>
                </a:lnTo>
                <a:lnTo>
                  <a:pt x="0" y="6951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28385" y="914400"/>
            <a:ext cx="13853493" cy="7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4"/>
              </a:lnSpc>
            </a:pPr>
            <a:r>
              <a:rPr lang="en-US" sz="4395" b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Ranking - Top 15 i analiza wrażliwości</a:t>
            </a:r>
          </a:p>
        </p:txBody>
      </p:sp>
      <p:sp>
        <p:nvSpPr>
          <p:cNvPr id="6" name="Freeform 6"/>
          <p:cNvSpPr/>
          <p:nvPr/>
        </p:nvSpPr>
        <p:spPr>
          <a:xfrm>
            <a:off x="10764568" y="2869474"/>
            <a:ext cx="7190716" cy="6388826"/>
          </a:xfrm>
          <a:custGeom>
            <a:avLst/>
            <a:gdLst/>
            <a:ahLst/>
            <a:cxnLst/>
            <a:rect l="l" t="t" r="r" b="b"/>
            <a:pathLst>
              <a:path w="7190716" h="6388826">
                <a:moveTo>
                  <a:pt x="0" y="0"/>
                </a:moveTo>
                <a:lnTo>
                  <a:pt x="7190716" y="0"/>
                </a:lnTo>
                <a:lnTo>
                  <a:pt x="7190716" y="6388826"/>
                </a:lnTo>
                <a:lnTo>
                  <a:pt x="0" y="6388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715745" y="1861060"/>
            <a:ext cx="10312930" cy="7989083"/>
          </a:xfrm>
          <a:custGeom>
            <a:avLst/>
            <a:gdLst/>
            <a:ahLst/>
            <a:cxnLst/>
            <a:rect l="l" t="t" r="r" b="b"/>
            <a:pathLst>
              <a:path w="10312930" h="7989083">
                <a:moveTo>
                  <a:pt x="0" y="0"/>
                </a:moveTo>
                <a:lnTo>
                  <a:pt x="10312930" y="0"/>
                </a:lnTo>
                <a:lnTo>
                  <a:pt x="10312930" y="7989083"/>
                </a:lnTo>
                <a:lnTo>
                  <a:pt x="0" y="7989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28083" y="6073750"/>
            <a:ext cx="5807349" cy="2407368"/>
          </a:xfrm>
          <a:custGeom>
            <a:avLst/>
            <a:gdLst/>
            <a:ahLst/>
            <a:cxnLst/>
            <a:rect l="l" t="t" r="r" b="b"/>
            <a:pathLst>
              <a:path w="5807349" h="2407368">
                <a:moveTo>
                  <a:pt x="0" y="0"/>
                </a:moveTo>
                <a:lnTo>
                  <a:pt x="5807349" y="0"/>
                </a:lnTo>
                <a:lnTo>
                  <a:pt x="5807349" y="2407369"/>
                </a:lnTo>
                <a:lnTo>
                  <a:pt x="0" y="240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3210" y="914400"/>
            <a:ext cx="13853493" cy="7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4"/>
              </a:lnSpc>
            </a:pPr>
            <a:r>
              <a:rPr lang="en-US" sz="4395" b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Mapa jakości rynku pracy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3210" y="2146566"/>
            <a:ext cx="6926746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Uzupełnieniem rankingu jest analiza przestrzenna, która pozwala zidentyfikować geograficzne wzorce rozmieszczenia jakości rynków pracy (np. podział Wschód-Zachód lub Północ-Południe).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spc="21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 tym celu podzielono kraje na 4 klasy jakościowe w oparciu o średnią i odchylenie standardowe wskaźnika Hellwiga: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spc="21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32736" y="2733088"/>
            <a:ext cx="13295939" cy="6390367"/>
          </a:xfrm>
          <a:custGeom>
            <a:avLst/>
            <a:gdLst/>
            <a:ahLst/>
            <a:cxnLst/>
            <a:rect l="l" t="t" r="r" b="b"/>
            <a:pathLst>
              <a:path w="13295939" h="6390367">
                <a:moveTo>
                  <a:pt x="0" y="0"/>
                </a:moveTo>
                <a:lnTo>
                  <a:pt x="13295939" y="0"/>
                </a:lnTo>
                <a:lnTo>
                  <a:pt x="13295939" y="6390367"/>
                </a:lnTo>
                <a:lnTo>
                  <a:pt x="0" y="639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9084" y="2804023"/>
            <a:ext cx="3877262" cy="412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Celem tej części jest wyodrębnienie grup państw o zbliżonych charakterystykach rynku pracy. Pozwoli to zweryfikować </a:t>
            </a:r>
            <a:r>
              <a:rPr lang="en-US" sz="169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Hipotezę H3 o istnieniu “Klastra Prekariatu”</a:t>
            </a:r>
            <a:r>
              <a:rPr lang="en-US" sz="16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(państwa o strukturalnie wysokim wykluczeniu).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endParaRPr lang="en-US" sz="1695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sz="169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Decyzja analityczna:</a:t>
            </a:r>
            <a:r>
              <a:rPr lang="en-US" sz="16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Wykresy wskazują na zasadność podziału na</a:t>
            </a:r>
            <a:r>
              <a:rPr lang="en-US" sz="169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k = 4 skupieni</a:t>
            </a:r>
            <a:r>
              <a:rPr lang="en-US" sz="16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a. Metoda sylwetki osiąga wysokie wartości, a na wykresie osypiska widoczne jest wypłaszczenie krzywej po czwartym klastrze.</a:t>
            </a:r>
          </a:p>
          <a:p>
            <a:pPr algn="ctr">
              <a:lnSpc>
                <a:spcPts val="2374"/>
              </a:lnSpc>
              <a:spcBef>
                <a:spcPct val="0"/>
              </a:spcBef>
            </a:pPr>
            <a:endParaRPr lang="en-US" sz="1695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50016" y="1082431"/>
            <a:ext cx="13853493" cy="156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4"/>
              </a:lnSpc>
            </a:pPr>
            <a:r>
              <a:rPr lang="en-US" sz="4395" b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Wybór optymalnej liczby klastrów</a:t>
            </a:r>
          </a:p>
          <a:p>
            <a:pPr algn="l">
              <a:lnSpc>
                <a:spcPts val="6154"/>
              </a:lnSpc>
            </a:pPr>
            <a:endParaRPr lang="en-US" sz="4395" b="1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574293" y="2480360"/>
            <a:ext cx="11631654" cy="6673661"/>
          </a:xfrm>
          <a:custGeom>
            <a:avLst/>
            <a:gdLst/>
            <a:ahLst/>
            <a:cxnLst/>
            <a:rect l="l" t="t" r="r" b="b"/>
            <a:pathLst>
              <a:path w="11631654" h="6673661">
                <a:moveTo>
                  <a:pt x="0" y="0"/>
                </a:moveTo>
                <a:lnTo>
                  <a:pt x="11631654" y="0"/>
                </a:lnTo>
                <a:lnTo>
                  <a:pt x="11631654" y="6673661"/>
                </a:lnTo>
                <a:lnTo>
                  <a:pt x="0" y="667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50016" y="914400"/>
            <a:ext cx="13853493" cy="145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4"/>
              </a:lnSpc>
            </a:pPr>
            <a:r>
              <a:rPr lang="en-US" sz="4095" b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Klastrowanie Metodą Warda (Struktura Hierarchiczna)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600" y="3162300"/>
            <a:ext cx="6492240" cy="5595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4"/>
              </a:lnSpc>
            </a:pP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Główne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wnioski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</a:p>
          <a:p>
            <a:pPr algn="l">
              <a:lnSpc>
                <a:spcPts val="2934"/>
              </a:lnSpc>
            </a:pPr>
            <a:endParaRPr lang="en-US" sz="2095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934"/>
              </a:lnSpc>
            </a:pP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Klaster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Prekariatu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</a:t>
            </a: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Południe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Europy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):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Grecja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Hiszpania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Włochy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–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bardzo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podobnej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strukturze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wysokie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NEET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bezrobocie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),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silnie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odmienne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od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reszty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UE.</a:t>
            </a:r>
          </a:p>
          <a:p>
            <a:pPr algn="l">
              <a:lnSpc>
                <a:spcPts val="2934"/>
              </a:lnSpc>
            </a:pPr>
            <a:endParaRPr lang="en-US" sz="2095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34"/>
              </a:lnSpc>
            </a:pP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Europa </a:t>
            </a: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Środkowo-Wschodnia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: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spójna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grupa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determinowana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długim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czasem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niższą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wydajnością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(model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ekstensywny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algn="l">
              <a:lnSpc>
                <a:spcPts val="2934"/>
              </a:lnSpc>
            </a:pPr>
            <a:endParaRPr lang="en-US" sz="2095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34"/>
              </a:lnSpc>
            </a:pP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Model </a:t>
            </a:r>
            <a:r>
              <a:rPr lang="en-US" sz="2095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nordycki</a:t>
            </a:r>
            <a:r>
              <a:rPr lang="en-US" sz="2095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(flexicurity):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północne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tworzą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najbardziej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jednorodny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klaster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oparty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wysokiej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wydajności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95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inkluzji</a:t>
            </a:r>
            <a:r>
              <a:rPr lang="en-US" sz="2095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3494"/>
              </a:lnSpc>
            </a:pPr>
            <a:endParaRPr lang="en-US" sz="2095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157240" y="2685886"/>
            <a:ext cx="12006959" cy="5697537"/>
          </a:xfrm>
          <a:custGeom>
            <a:avLst/>
            <a:gdLst/>
            <a:ahLst/>
            <a:cxnLst/>
            <a:rect l="l" t="t" r="r" b="b"/>
            <a:pathLst>
              <a:path w="12006959" h="5697537">
                <a:moveTo>
                  <a:pt x="0" y="0"/>
                </a:moveTo>
                <a:lnTo>
                  <a:pt x="12006959" y="0"/>
                </a:lnTo>
                <a:lnTo>
                  <a:pt x="12006959" y="5697537"/>
                </a:lnTo>
                <a:lnTo>
                  <a:pt x="0" y="569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93" r="-1285" b="-23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50016" y="914400"/>
            <a:ext cx="13853493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4"/>
              </a:lnSpc>
            </a:pP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Podział</a:t>
            </a:r>
            <a:r>
              <a:rPr lang="en-US" sz="40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Metodą</a:t>
            </a:r>
            <a:r>
              <a:rPr lang="en-US" sz="40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k-</a:t>
            </a:r>
            <a:r>
              <a:rPr lang="en-US" sz="4800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ś</a:t>
            </a: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rednich</a:t>
            </a:r>
            <a:r>
              <a:rPr lang="en-US" sz="40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524" y="1962724"/>
            <a:ext cx="5884048" cy="792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Ostateczny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podział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krajów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uzyskano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metodą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                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k-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średnich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wyniki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przedstawiono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przestrzeni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dwóch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głównych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składowych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PCA.</a:t>
            </a: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656"/>
              </a:lnSpc>
            </a:pPr>
            <a:r>
              <a:rPr lang="en-US" sz="1897" b="1" dirty="0" err="1">
                <a:solidFill>
                  <a:srgbClr val="3A77A6"/>
                </a:solidFill>
                <a:latin typeface="Lato Bold"/>
                <a:ea typeface="Lato Bold"/>
                <a:cs typeface="Lato Bold"/>
                <a:sym typeface="Lato Bold"/>
              </a:rPr>
              <a:t>Klaster</a:t>
            </a:r>
            <a:r>
              <a:rPr lang="en-US" sz="1897" b="1" dirty="0">
                <a:solidFill>
                  <a:srgbClr val="3A77A6"/>
                </a:solidFill>
                <a:latin typeface="Lato Bold"/>
                <a:ea typeface="Lato Bold"/>
                <a:cs typeface="Lato Bold"/>
                <a:sym typeface="Lato Bold"/>
              </a:rPr>
              <a:t> 1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–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liderzy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jakości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rynku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prawa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strona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Dim1):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północne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zachodnie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wysokiej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wydajności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inkluzji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(m.in.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Norwegia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Dania,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Holandia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Irlandia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).</a:t>
            </a:r>
          </a:p>
          <a:p>
            <a:pPr algn="l">
              <a:lnSpc>
                <a:spcPts val="2656"/>
              </a:lnSpc>
            </a:pPr>
            <a:r>
              <a:rPr lang="en-US" sz="1897" b="1" dirty="0" err="1">
                <a:solidFill>
                  <a:srgbClr val="70C28B"/>
                </a:solidFill>
                <a:latin typeface="Lato Bold"/>
                <a:ea typeface="Lato Bold"/>
                <a:cs typeface="Lato Bold"/>
                <a:sym typeface="Lato Bold"/>
              </a:rPr>
              <a:t>Klaster</a:t>
            </a:r>
            <a:r>
              <a:rPr lang="en-US" sz="1897" b="1" dirty="0">
                <a:solidFill>
                  <a:srgbClr val="70C28B"/>
                </a:solidFill>
                <a:latin typeface="Lato Bold"/>
                <a:ea typeface="Lato Bold"/>
                <a:cs typeface="Lato Bold"/>
                <a:sym typeface="Lato Bold"/>
              </a:rPr>
              <a:t> 3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–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peryferia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niski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poziom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rozwoju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lewa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strona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Dim1):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najsłabszym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profilu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rynku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Bałkany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Turcja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).</a:t>
            </a:r>
          </a:p>
          <a:p>
            <a:pPr algn="l">
              <a:lnSpc>
                <a:spcPts val="2656"/>
              </a:lnSpc>
            </a:pPr>
            <a:r>
              <a:rPr lang="en-US" sz="1897" b="1" dirty="0" err="1">
                <a:solidFill>
                  <a:srgbClr val="E4685B"/>
                </a:solidFill>
                <a:latin typeface="Lato Bold"/>
                <a:ea typeface="Lato Bold"/>
                <a:cs typeface="Lato Bold"/>
                <a:sym typeface="Lato Bold"/>
              </a:rPr>
              <a:t>Klaster</a:t>
            </a:r>
            <a:r>
              <a:rPr lang="en-US" sz="1897" b="1" dirty="0">
                <a:solidFill>
                  <a:srgbClr val="E4685B"/>
                </a:solidFill>
                <a:latin typeface="Lato Bold"/>
                <a:ea typeface="Lato Bold"/>
                <a:cs typeface="Lato Bold"/>
                <a:sym typeface="Lato Bold"/>
              </a:rPr>
              <a:t> 2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–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stabilny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środek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pośrednich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charakterystykach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głównie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Europa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Środkowo-Wschodnia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część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Południa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656"/>
              </a:lnSpc>
            </a:pPr>
            <a:r>
              <a:rPr lang="en-US" sz="1897" b="1" dirty="0" err="1">
                <a:solidFill>
                  <a:srgbClr val="F87F32"/>
                </a:solidFill>
                <a:latin typeface="Lato Bold"/>
                <a:ea typeface="Lato Bold"/>
                <a:cs typeface="Lato Bold"/>
                <a:sym typeface="Lato Bold"/>
              </a:rPr>
              <a:t>Klaster</a:t>
            </a:r>
            <a:r>
              <a:rPr lang="en-US" sz="1897" b="1" dirty="0">
                <a:solidFill>
                  <a:srgbClr val="F87F32"/>
                </a:solidFill>
                <a:latin typeface="Lato Bold"/>
                <a:ea typeface="Lato Bold"/>
                <a:cs typeface="Lato Bold"/>
                <a:sym typeface="Lato Bold"/>
              </a:rPr>
              <a:t> 4 –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duże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gospodarki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rdzenia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UE: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Niemcy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Francja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Hiszpania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</a:t>
            </a:r>
            <a:r>
              <a:rPr lang="en-US" sz="1897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Włochy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–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wyróżniają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się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głównie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wzdłuż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Dim2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(model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656"/>
              </a:lnSpc>
            </a:pP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wykresie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PCA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widać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4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grupy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krajów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; </a:t>
            </a:r>
            <a:r>
              <a:rPr lang="en-US" sz="1897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Dim1 </a:t>
            </a:r>
            <a:r>
              <a:rPr lang="en-US" sz="1897" b="1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wyjaśnia</a:t>
            </a:r>
            <a:r>
              <a:rPr lang="en-US" sz="1897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45,3% </a:t>
            </a:r>
            <a:r>
              <a:rPr lang="en-US" sz="1897" b="1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zmienności</a:t>
            </a:r>
            <a:r>
              <a:rPr lang="en-US" sz="1897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a Dim2 20,4% (</a:t>
            </a:r>
            <a:r>
              <a:rPr lang="en-US" sz="1897" b="1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razem</a:t>
            </a:r>
            <a:r>
              <a:rPr lang="en-US" sz="1897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ok. 65,7%)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więc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ten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rzut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dobrze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oddaje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główne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różnice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między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97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krajami</a:t>
            </a:r>
            <a:r>
              <a:rPr lang="en-US" sz="1897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.​</a:t>
            </a: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121606" y="3689153"/>
            <a:ext cx="10907070" cy="3231219"/>
          </a:xfrm>
          <a:custGeom>
            <a:avLst/>
            <a:gdLst/>
            <a:ahLst/>
            <a:cxnLst/>
            <a:rect l="l" t="t" r="r" b="b"/>
            <a:pathLst>
              <a:path w="10907070" h="3231219">
                <a:moveTo>
                  <a:pt x="0" y="0"/>
                </a:moveTo>
                <a:lnTo>
                  <a:pt x="10907069" y="0"/>
                </a:lnTo>
                <a:lnTo>
                  <a:pt x="10907069" y="3231220"/>
                </a:lnTo>
                <a:lnTo>
                  <a:pt x="0" y="3231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06433" y="1308119"/>
            <a:ext cx="13853493" cy="73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4"/>
              </a:lnSpc>
            </a:pP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Profilowanie</a:t>
            </a:r>
            <a:r>
              <a:rPr lang="en-US" sz="40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klastrów</a:t>
            </a:r>
            <a:r>
              <a:rPr lang="en-US" sz="40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</a:t>
            </a:r>
            <a:r>
              <a:rPr lang="en-US" sz="4095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sz="4095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interpretacja</a:t>
            </a:r>
            <a:endParaRPr lang="en-US" sz="4095" b="1" dirty="0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9859" y="2346519"/>
            <a:ext cx="6901746" cy="742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Średnie wartości zmiennych pozwalają wyróżnić cztery trwałe typy rynków pracy w Europie:</a:t>
            </a:r>
          </a:p>
          <a:p>
            <a:pPr algn="l">
              <a:lnSpc>
                <a:spcPts val="2942"/>
              </a:lnSpc>
            </a:pPr>
            <a:endParaRPr lang="en-US" sz="210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2"/>
              </a:lnSpc>
            </a:pPr>
            <a:r>
              <a:rPr lang="en-US" sz="2101" b="1">
                <a:solidFill>
                  <a:srgbClr val="3A77A6"/>
                </a:solidFill>
                <a:latin typeface="Lato Bold"/>
                <a:ea typeface="Lato Bold"/>
                <a:cs typeface="Lato Bold"/>
                <a:sym typeface="Lato Bold"/>
              </a:rPr>
              <a:t>Klaster 1 </a:t>
            </a:r>
            <a:r>
              <a:rPr lang="en-US" sz="2101">
                <a:solidFill>
                  <a:srgbClr val="3A77A6"/>
                </a:solidFill>
                <a:latin typeface="Lato"/>
                <a:ea typeface="Lato"/>
                <a:cs typeface="Lato"/>
                <a:sym typeface="Lato"/>
              </a:rPr>
              <a:t>– </a:t>
            </a:r>
            <a:r>
              <a:rPr lang="en-US" sz="2101" b="1">
                <a:solidFill>
                  <a:srgbClr val="3A77A6"/>
                </a:solidFill>
                <a:latin typeface="Lato Bold"/>
                <a:ea typeface="Lato Bold"/>
                <a:cs typeface="Lato Bold"/>
                <a:sym typeface="Lato Bold"/>
              </a:rPr>
              <a:t>Liderzy efektywności (Północ)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najwyższa wydajność i wolność gospodarcza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najniższe bezrobocie i NEET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model flexicurity – wysoka efektywność + inkluzja</a:t>
            </a:r>
          </a:p>
          <a:p>
            <a:pPr algn="l">
              <a:lnSpc>
                <a:spcPts val="2942"/>
              </a:lnSpc>
            </a:pPr>
            <a:r>
              <a:rPr lang="en-US" sz="2101" b="1">
                <a:solidFill>
                  <a:srgbClr val="70C28B"/>
                </a:solidFill>
                <a:latin typeface="Lato Bold"/>
                <a:ea typeface="Lato Bold"/>
                <a:cs typeface="Lato Bold"/>
                <a:sym typeface="Lato Bold"/>
              </a:rPr>
              <a:t>Klaster 3 – „Prekariat” (ryzyko strukturalne)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najwyższy NEET i bezrobocie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najniższa wydajność i wolność pracy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trwałe problemy rynku pracy (potwierdzenie H3)</a:t>
            </a:r>
          </a:p>
          <a:p>
            <a:pPr algn="l">
              <a:lnSpc>
                <a:spcPts val="2942"/>
              </a:lnSpc>
            </a:pPr>
            <a:r>
              <a:rPr lang="en-US" sz="2101" b="1">
                <a:solidFill>
                  <a:srgbClr val="E4685B"/>
                </a:solidFill>
                <a:latin typeface="Lato Bold"/>
                <a:ea typeface="Lato Bold"/>
                <a:cs typeface="Lato Bold"/>
                <a:sym typeface="Lato Bold"/>
              </a:rPr>
              <a:t>Klaster 2 – Stabilny środek UE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wartości zbliżone do średniej unijnej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umiarkowana wydajność i niskie ryzyko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trzon stabilności europejskiego rynku pracy</a:t>
            </a:r>
          </a:p>
          <a:p>
            <a:pPr algn="l">
              <a:lnSpc>
                <a:spcPts val="2942"/>
              </a:lnSpc>
            </a:pPr>
            <a:r>
              <a:rPr lang="en-US" sz="2101" b="1">
                <a:solidFill>
                  <a:srgbClr val="F87F32"/>
                </a:solidFill>
                <a:latin typeface="Lato Bold"/>
                <a:ea typeface="Lato Bold"/>
                <a:cs typeface="Lato Bold"/>
                <a:sym typeface="Lato Bold"/>
              </a:rPr>
              <a:t>Klaster 4 – Duże gospodarki rdzenia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wysoka wydajność, ale specyficzny model pracy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odmienność głównie w czasie pracy (Dim2)</a:t>
            </a:r>
          </a:p>
          <a:p>
            <a:pPr marL="453730" lvl="1" indent="-226865" algn="l">
              <a:lnSpc>
                <a:spcPts val="2942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silne gospodarki, lecz nie tak inkluzywne jak liderzy</a:t>
            </a:r>
          </a:p>
          <a:p>
            <a:pPr algn="l">
              <a:lnSpc>
                <a:spcPts val="2942"/>
              </a:lnSpc>
            </a:pPr>
            <a:endParaRPr lang="en-US" sz="210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64413" y="3417963"/>
            <a:ext cx="6113680" cy="5114432"/>
          </a:xfrm>
          <a:custGeom>
            <a:avLst/>
            <a:gdLst/>
            <a:ahLst/>
            <a:cxnLst/>
            <a:rect l="l" t="t" r="r" b="b"/>
            <a:pathLst>
              <a:path w="6113680" h="5114432">
                <a:moveTo>
                  <a:pt x="0" y="0"/>
                </a:moveTo>
                <a:lnTo>
                  <a:pt x="6113680" y="0"/>
                </a:lnTo>
                <a:lnTo>
                  <a:pt x="6113680" y="5114431"/>
                </a:lnTo>
                <a:lnTo>
                  <a:pt x="0" y="5114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05400" y="2331616"/>
            <a:ext cx="11758874" cy="7501350"/>
          </a:xfrm>
          <a:custGeom>
            <a:avLst/>
            <a:gdLst/>
            <a:ahLst/>
            <a:cxnLst/>
            <a:rect l="l" t="t" r="r" b="b"/>
            <a:pathLst>
              <a:path w="11758874" h="7501350">
                <a:moveTo>
                  <a:pt x="0" y="0"/>
                </a:moveTo>
                <a:lnTo>
                  <a:pt x="11758875" y="0"/>
                </a:lnTo>
                <a:lnTo>
                  <a:pt x="11758875" y="7501350"/>
                </a:lnTo>
                <a:lnTo>
                  <a:pt x="0" y="7501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24" r="-2547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24696" y="766870"/>
            <a:ext cx="11100831" cy="156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Analiza Dynamiki (2015 vs 2022)</a:t>
            </a:r>
          </a:p>
          <a:p>
            <a:pPr algn="ctr">
              <a:lnSpc>
                <a:spcPts val="6154"/>
              </a:lnSpc>
            </a:pPr>
            <a:endParaRPr lang="en-US" sz="4395" b="1">
              <a:solidFill>
                <a:srgbClr val="1D617A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4" b="-33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59926" y="440288"/>
            <a:ext cx="3668749" cy="756443"/>
          </a:xfrm>
          <a:custGeom>
            <a:avLst/>
            <a:gdLst/>
            <a:ahLst/>
            <a:cxnLst/>
            <a:rect l="l" t="t" r="r" b="b"/>
            <a:pathLst>
              <a:path w="3668749" h="756443">
                <a:moveTo>
                  <a:pt x="0" y="0"/>
                </a:moveTo>
                <a:lnTo>
                  <a:pt x="3668749" y="0"/>
                </a:lnTo>
                <a:lnTo>
                  <a:pt x="3668749" y="756443"/>
                </a:lnTo>
                <a:lnTo>
                  <a:pt x="0" y="75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1419237" y="1082431"/>
            <a:ext cx="11100831" cy="7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Wnioski końcowe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558233" y="3449793"/>
            <a:ext cx="22729026" cy="2138885"/>
            <a:chOff x="0" y="0"/>
            <a:chExt cx="5986246" cy="4460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86245" cy="446079"/>
            </a:xfrm>
            <a:custGeom>
              <a:avLst/>
              <a:gdLst/>
              <a:ahLst/>
              <a:cxnLst/>
              <a:rect l="l" t="t" r="r" b="b"/>
              <a:pathLst>
                <a:path w="5986245" h="446079">
                  <a:moveTo>
                    <a:pt x="0" y="0"/>
                  </a:moveTo>
                  <a:lnTo>
                    <a:pt x="5986245" y="0"/>
                  </a:lnTo>
                  <a:lnTo>
                    <a:pt x="5986245" y="446079"/>
                  </a:lnTo>
                  <a:lnTo>
                    <a:pt x="0" y="446079"/>
                  </a:lnTo>
                  <a:close/>
                </a:path>
              </a:pathLst>
            </a:custGeom>
            <a:solidFill>
              <a:srgbClr val="F2F1F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986246" cy="493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8723" y="3230497"/>
            <a:ext cx="14578209" cy="166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7"/>
              </a:lnSpc>
            </a:pPr>
            <a:endParaRPr dirty="0"/>
          </a:p>
          <a:p>
            <a:pPr algn="l">
              <a:lnSpc>
                <a:spcPts val="3377"/>
              </a:lnSpc>
            </a:pP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H1: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brak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jednoznacznej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relacji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między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Labor Freedom a NEET -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kluczową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rolę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odgrywa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wydajność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gospodarki</a:t>
            </a:r>
            <a:endParaRPr lang="en-US" sz="2412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377"/>
              </a:lnSpc>
            </a:pP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H2: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potwierdzona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wrażliwość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wyników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system wag - ranking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nie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jest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neutralny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metodologicznie</a:t>
            </a:r>
            <a:endParaRPr lang="en-US" sz="2412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377"/>
              </a:lnSpc>
            </a:pP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H3: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potwierdzone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istnienie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klastra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prekariatu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Południe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1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Europy</a:t>
            </a:r>
            <a:r>
              <a:rPr lang="en-US" sz="241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2000" y="2617254"/>
            <a:ext cx="5203958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Weryfikacja</a:t>
            </a: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hipotez</a:t>
            </a:r>
            <a:endParaRPr lang="en-US" sz="2899" b="1" spc="289" dirty="0">
              <a:solidFill>
                <a:srgbClr val="0C416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-1066800" y="6599962"/>
            <a:ext cx="24465545" cy="2277749"/>
            <a:chOff x="0" y="0"/>
            <a:chExt cx="6443600" cy="4986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43600" cy="498618"/>
            </a:xfrm>
            <a:custGeom>
              <a:avLst/>
              <a:gdLst/>
              <a:ahLst/>
              <a:cxnLst/>
              <a:rect l="l" t="t" r="r" b="b"/>
              <a:pathLst>
                <a:path w="6443600" h="498618">
                  <a:moveTo>
                    <a:pt x="0" y="0"/>
                  </a:moveTo>
                  <a:lnTo>
                    <a:pt x="6443600" y="0"/>
                  </a:lnTo>
                  <a:lnTo>
                    <a:pt x="6443600" y="498618"/>
                  </a:lnTo>
                  <a:lnTo>
                    <a:pt x="0" y="498618"/>
                  </a:lnTo>
                  <a:close/>
                </a:path>
              </a:pathLst>
            </a:custGeom>
            <a:solidFill>
              <a:srgbClr val="F2F1F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443600" cy="546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95400" y="5935783"/>
            <a:ext cx="6438905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Kluczowe</a:t>
            </a: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wnioski</a:t>
            </a:r>
            <a:r>
              <a:rPr lang="en-US" sz="2899" b="1" spc="289" dirty="0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899" b="1" spc="289" dirty="0" err="1">
                <a:solidFill>
                  <a:srgbClr val="0C4160"/>
                </a:solidFill>
                <a:latin typeface="Lato Bold"/>
                <a:ea typeface="Lato Bold"/>
                <a:cs typeface="Lato Bold"/>
                <a:sym typeface="Lato Bold"/>
              </a:rPr>
              <a:t>ekonomiczne</a:t>
            </a:r>
            <a:endParaRPr lang="en-US" sz="2899" b="1" spc="289" dirty="0">
              <a:solidFill>
                <a:srgbClr val="0C416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33205" y="6909854"/>
            <a:ext cx="14781877" cy="154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4"/>
              </a:lnSpc>
            </a:pP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Europa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funkcjonuje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ramach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dwóch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modeli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rynku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endParaRPr lang="en-US" sz="2195" spc="21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3074"/>
              </a:lnSpc>
            </a:pP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Najsilniejszym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czynnikiem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jakości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pracy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jest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wydajność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(PKB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pracownika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</a:p>
          <a:p>
            <a:pPr algn="just">
              <a:lnSpc>
                <a:spcPts val="3074"/>
              </a:lnSpc>
              <a:spcBef>
                <a:spcPct val="0"/>
              </a:spcBef>
            </a:pP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Model flexicurity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skuteczniej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ogranicza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wykluczenie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niż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sztywna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ochrona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zatrudnienia</a:t>
            </a:r>
            <a:endParaRPr lang="en-US" sz="2195" spc="21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3074"/>
              </a:lnSpc>
              <a:spcBef>
                <a:spcPct val="0"/>
              </a:spcBef>
            </a:pP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Wysoka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efektywność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gospodarki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jest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warunkiem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inkluzji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społecznej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a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nie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jej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5" spc="21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przeciwieństwem</a:t>
            </a:r>
            <a:r>
              <a:rPr lang="en-US" sz="2195" spc="21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16910" y="9414377"/>
            <a:ext cx="601176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3"/>
              </a:lnSpc>
            </a:pPr>
            <a:r>
              <a:rPr lang="en-US" sz="3109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Dzi</a:t>
            </a:r>
            <a:r>
              <a:rPr lang="en-US" sz="3600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ę</a:t>
            </a:r>
            <a:r>
              <a:rPr lang="en-US" sz="3109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kujemy</a:t>
            </a:r>
            <a:r>
              <a:rPr lang="en-US" sz="3109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za </a:t>
            </a:r>
            <a:r>
              <a:rPr lang="en-US" sz="3109" b="1" dirty="0" err="1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uwag</a:t>
            </a:r>
            <a:r>
              <a:rPr lang="pl-PL" sz="3600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ę</a:t>
            </a:r>
            <a:r>
              <a:rPr lang="en-US" sz="3109" b="1" dirty="0">
                <a:solidFill>
                  <a:srgbClr val="1D617A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! 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1415</Words>
  <Application>Microsoft Office PowerPoint</Application>
  <PresentationFormat>Niestandardowy</PresentationFormat>
  <Paragraphs>146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2" baseType="lpstr">
      <vt:lpstr>Helios Extended Bold</vt:lpstr>
      <vt:lpstr>Lato</vt:lpstr>
      <vt:lpstr>Heebo Bold</vt:lpstr>
      <vt:lpstr>Calibri</vt:lpstr>
      <vt:lpstr>Arial</vt:lpstr>
      <vt:lpstr>Lato 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Proposal Presentation</dc:title>
  <cp:lastModifiedBy>Klaudia Woźniak</cp:lastModifiedBy>
  <cp:revision>4</cp:revision>
  <dcterms:created xsi:type="dcterms:W3CDTF">2006-08-16T00:00:00Z</dcterms:created>
  <dcterms:modified xsi:type="dcterms:W3CDTF">2026-01-19T23:28:43Z</dcterms:modified>
  <dc:identifier>DAG-4oCbTFg</dc:identifier>
</cp:coreProperties>
</file>